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81" r:id="rId3"/>
    <p:sldId id="272" r:id="rId4"/>
    <p:sldId id="283" r:id="rId5"/>
    <p:sldId id="287" r:id="rId6"/>
    <p:sldId id="288" r:id="rId7"/>
    <p:sldId id="274" r:id="rId8"/>
    <p:sldId id="282" r:id="rId9"/>
    <p:sldId id="273" r:id="rId10"/>
    <p:sldId id="261" r:id="rId11"/>
    <p:sldId id="285" r:id="rId12"/>
    <p:sldId id="275" r:id="rId13"/>
    <p:sldId id="280" r:id="rId14"/>
    <p:sldId id="286" r:id="rId15"/>
    <p:sldId id="276" r:id="rId16"/>
    <p:sldId id="284" r:id="rId17"/>
    <p:sldId id="279" r:id="rId18"/>
    <p:sldId id="269" r:id="rId19"/>
  </p:sldIdLst>
  <p:sldSz cx="12192000" cy="6858000"/>
  <p:notesSz cx="6858000" cy="9144000"/>
  <p:embeddedFontLst>
    <p:embeddedFont>
      <p:font typeface="맑은 고딕" panose="020B0503020000020004" pitchFamily="50" charset="-127"/>
      <p:regular r:id="rId20"/>
      <p:bold r:id="rId21"/>
    </p:embeddedFont>
    <p:embeddedFont>
      <p:font typeface="Arial Unicode MS" panose="020B0604020202020204" pitchFamily="50" charset="-127"/>
      <p:regular r:id="rId22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175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3F3F"/>
    <a:srgbClr val="FFC9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660"/>
  </p:normalViewPr>
  <p:slideViewPr>
    <p:cSldViewPr snapToGrid="0" showGuides="1">
      <p:cViewPr varScale="1">
        <p:scale>
          <a:sx n="89" d="100"/>
          <a:sy n="89" d="100"/>
        </p:scale>
        <p:origin x="126" y="168"/>
      </p:cViewPr>
      <p:guideLst>
        <p:guide orient="horz" pos="2092"/>
        <p:guide pos="3840"/>
        <p:guide pos="175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0BB7C-ED8A-4757-AD83-71D1217BD5FA}" type="datetimeFigureOut">
              <a:rPr lang="ko-KR" altLang="en-US" smtClean="0"/>
              <a:t>2016-10-12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40536-C8E0-4247-A6C3-5135EE3E1BC4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Picture 2" descr="http://postfiles4.naver.net/20101110_195/lmlm4864_1289377936723BcAr5_JPEG/%B1%D7%B7%B9%C0%CC.jpg?type=w3"/>
          <p:cNvPicPr preferRelativeResize="0">
            <a:picLocks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16114" y="0"/>
            <a:ext cx="12308114" cy="6858000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</p:pic>
    </p:spTree>
    <p:extLst>
      <p:ext uri="{BB962C8B-B14F-4D97-AF65-F5344CB8AC3E}">
        <p14:creationId xmlns:p14="http://schemas.microsoft.com/office/powerpoint/2010/main" val="24154295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bg>
      <p:bgPr>
        <a:blipFill dpi="0" rotWithShape="1">
          <a:blip r:embed="rId2">
            <a:alphaModFix amt="76000"/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87383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0BB7C-ED8A-4757-AD83-71D1217BD5FA}" type="datetimeFigureOut">
              <a:rPr lang="ko-KR" altLang="en-US" smtClean="0"/>
              <a:t>2016-10-12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40536-C8E0-4247-A6C3-5135EE3E1B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57956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0BB7C-ED8A-4757-AD83-71D1217BD5FA}" type="datetimeFigureOut">
              <a:rPr lang="ko-KR" altLang="en-US" smtClean="0"/>
              <a:t>2016-10-12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40536-C8E0-4247-A6C3-5135EE3E1B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79043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0BB7C-ED8A-4757-AD83-71D1217BD5FA}" type="datetimeFigureOut">
              <a:rPr lang="ko-KR" altLang="en-US" smtClean="0"/>
              <a:t>2016-10-12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40536-C8E0-4247-A6C3-5135EE3E1B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44517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0BB7C-ED8A-4757-AD83-71D1217BD5FA}" type="datetimeFigureOut">
              <a:rPr lang="ko-KR" altLang="en-US" smtClean="0"/>
              <a:t>2016-10-12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40536-C8E0-4247-A6C3-5135EE3E1B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5783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0BB7C-ED8A-4757-AD83-71D1217BD5FA}" type="datetimeFigureOut">
              <a:rPr lang="ko-KR" altLang="en-US" smtClean="0"/>
              <a:t>2016-10-12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40536-C8E0-4247-A6C3-5135EE3E1B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2879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0BB7C-ED8A-4757-AD83-71D1217BD5FA}" type="datetimeFigureOut">
              <a:rPr lang="ko-KR" altLang="en-US" smtClean="0"/>
              <a:t>2016-10-12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40536-C8E0-4247-A6C3-5135EE3E1B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7324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0BB7C-ED8A-4757-AD83-71D1217BD5FA}" type="datetimeFigureOut">
              <a:rPr lang="ko-KR" altLang="en-US" smtClean="0"/>
              <a:t>2016-10-12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40536-C8E0-4247-A6C3-5135EE3E1B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9220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0BB7C-ED8A-4757-AD83-71D1217BD5FA}" type="datetimeFigureOut">
              <a:rPr lang="ko-KR" altLang="en-US" smtClean="0"/>
              <a:t>2016-10-12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40536-C8E0-4247-A6C3-5135EE3E1B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218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0BB7C-ED8A-4757-AD83-71D1217BD5FA}" type="datetimeFigureOut">
              <a:rPr lang="ko-KR" altLang="en-US" smtClean="0"/>
              <a:t>2016-10-12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40536-C8E0-4247-A6C3-5135EE3E1B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96914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0BB7C-ED8A-4757-AD83-71D1217BD5FA}" type="datetimeFigureOut">
              <a:rPr lang="ko-KR" altLang="en-US" smtClean="0"/>
              <a:t>2016-10-12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40536-C8E0-4247-A6C3-5135EE3E1B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5174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90BB7C-ED8A-4757-AD83-71D1217BD5FA}" type="datetimeFigureOut">
              <a:rPr lang="ko-KR" altLang="en-US" smtClean="0"/>
              <a:t>2016-10-12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B40536-C8E0-4247-A6C3-5135EE3E1B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5750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754605" y="2438411"/>
            <a:ext cx="6678930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3F3F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GPL &amp; LGPL</a:t>
            </a:r>
          </a:p>
          <a:p>
            <a:r>
              <a:rPr lang="en-US" altLang="ko-KR" sz="2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3F3F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GNU General Public License</a:t>
            </a:r>
          </a:p>
          <a:p>
            <a:r>
              <a:rPr lang="en-US" altLang="ko-KR" sz="2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3F3F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GNU Lesser General Public License</a:t>
            </a:r>
          </a:p>
          <a:p>
            <a:endParaRPr lang="ko-KR" altLang="en-US" sz="3200" b="1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54605" y="5177047"/>
            <a:ext cx="2162286" cy="958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3F3F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팀 윷</a:t>
            </a:r>
            <a:endParaRPr lang="en-US" altLang="ko-KR" sz="20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3F3F3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ko-KR" altLang="en-US" sz="2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3F3F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주원영</a:t>
            </a:r>
            <a:r>
              <a:rPr lang="en-US" altLang="ko-KR" sz="2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3F3F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ko-KR" altLang="en-US" sz="2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3F3F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전덕우</a:t>
            </a:r>
            <a:endParaRPr lang="en-US" altLang="ko-KR" sz="20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3F3F3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309579" y="3327556"/>
            <a:ext cx="1646063" cy="30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322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754606" y="2799777"/>
            <a:ext cx="24726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F3F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INDEX</a:t>
            </a:r>
            <a:endParaRPr lang="ko-KR" altLang="en-US" sz="3200" b="1" dirty="0">
              <a:solidFill>
                <a:prstClr val="black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77466" y="2615111"/>
            <a:ext cx="1763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F3F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GPL &amp; LGPL</a:t>
            </a:r>
            <a:endParaRPr lang="ko-KR" altLang="en-US" b="1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3F3F3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507228" y="1045449"/>
            <a:ext cx="3517977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3F3F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80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3F3F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80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3F3F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History</a:t>
            </a:r>
          </a:p>
          <a:p>
            <a:pPr>
              <a:lnSpc>
                <a:spcPct val="150000"/>
              </a:lnSpc>
            </a:pPr>
            <a:r>
              <a:rPr lang="en-US" altLang="ko-KR" sz="3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3F3F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LGPL</a:t>
            </a:r>
            <a:endParaRPr lang="en-US" altLang="ko-KR" sz="36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3F3F3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80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3F3F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Difference</a:t>
            </a:r>
          </a:p>
          <a:p>
            <a:pPr>
              <a:lnSpc>
                <a:spcPct val="150000"/>
              </a:lnSpc>
            </a:pPr>
            <a:r>
              <a:rPr lang="en-US" altLang="ko-KR" sz="3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3F3F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</a:t>
            </a:r>
          </a:p>
          <a:p>
            <a:pPr>
              <a:lnSpc>
                <a:spcPct val="150000"/>
              </a:lnSpc>
            </a:pPr>
            <a:r>
              <a:rPr lang="en-US" altLang="ko-KR" sz="3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3F3F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Q&amp;A</a:t>
            </a:r>
          </a:p>
        </p:txBody>
      </p:sp>
      <p:cxnSp>
        <p:nvCxnSpPr>
          <p:cNvPr id="9" name="직선 연결선 8"/>
          <p:cNvCxnSpPr/>
          <p:nvPr/>
        </p:nvCxnSpPr>
        <p:spPr>
          <a:xfrm>
            <a:off x="3539267" y="645116"/>
            <a:ext cx="0" cy="5861378"/>
          </a:xfrm>
          <a:prstGeom prst="line">
            <a:avLst/>
          </a:prstGeom>
          <a:ln>
            <a:gradFill flip="none" rotWithShape="1">
              <a:gsLst>
                <a:gs pos="60000">
                  <a:srgbClr val="3F3F3F">
                    <a:alpha val="54000"/>
                  </a:srgbClr>
                </a:gs>
                <a:gs pos="100000">
                  <a:schemeClr val="bg1">
                    <a:lumMod val="85000"/>
                    <a:alpha val="72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  <a:effectLst>
            <a:outerShdw blurRad="152400" sx="56000" sy="56000" algn="l" rotWithShape="0">
              <a:prstClr val="black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0968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537029" y="653142"/>
            <a:ext cx="2032000" cy="0"/>
          </a:xfrm>
          <a:prstGeom prst="line">
            <a:avLst/>
          </a:prstGeom>
          <a:ln w="12700">
            <a:solidFill>
              <a:srgbClr val="3F3F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/>
        </p:nvSpPr>
        <p:spPr>
          <a:xfrm>
            <a:off x="1064601" y="705134"/>
            <a:ext cx="10278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3F3F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GPL</a:t>
            </a:r>
            <a:endParaRPr lang="ko-KR" altLang="en-US" sz="32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3F3F3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3023370" y="833236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altLang="ko-KR" sz="160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ko-KR" altLang="en-US" sz="16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3208101" y="833236"/>
            <a:ext cx="52365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GPL : GNU General Public License</a:t>
            </a:r>
            <a:endParaRPr lang="en-US" altLang="ko-KR" sz="1600" b="1" dirty="0" smtClean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2786743" y="580570"/>
            <a:ext cx="0" cy="5861378"/>
          </a:xfrm>
          <a:prstGeom prst="line">
            <a:avLst/>
          </a:prstGeom>
          <a:ln>
            <a:gradFill flip="none" rotWithShape="1">
              <a:gsLst>
                <a:gs pos="60000">
                  <a:srgbClr val="3F3F3F">
                    <a:alpha val="54000"/>
                  </a:srgbClr>
                </a:gs>
                <a:gs pos="100000">
                  <a:schemeClr val="bg1">
                    <a:lumMod val="85000"/>
                    <a:alpha val="72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  <a:effectLst>
            <a:outerShdw blurRad="152400" sx="56000" sy="56000" algn="l" rotWithShape="0">
              <a:prstClr val="black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066" y="5521658"/>
            <a:ext cx="1405300" cy="696262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4880" y="833235"/>
            <a:ext cx="2671162" cy="1323439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979134" y="1936018"/>
            <a:ext cx="573335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자유 소프트웨어 재단</a:t>
            </a:r>
            <a:r>
              <a:rPr lang="en-US" altLang="ko-KR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(FSF)</a:t>
            </a: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에서 만든 자유 소프트웨어</a:t>
            </a:r>
            <a:r>
              <a:rPr lang="en-US" altLang="ko-KR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altLang="ko-KR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라이선스</a:t>
            </a:r>
            <a:endParaRPr lang="en-US" altLang="ko-KR" sz="1600" b="1" dirty="0" smtClean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사용자들이 소프트웨어를 실행</a:t>
            </a:r>
            <a:r>
              <a:rPr lang="en-US" altLang="ko-KR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연구</a:t>
            </a:r>
            <a:r>
              <a:rPr lang="en-US" altLang="ko-KR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공유</a:t>
            </a:r>
            <a:r>
              <a:rPr lang="en-US" altLang="ko-KR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수정할 자유를 보장</a:t>
            </a:r>
            <a:endParaRPr lang="en-US" altLang="ko-KR" sz="1600" b="1" dirty="0" smtClean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ko-KR" sz="1600" b="1" dirty="0" smtClean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가장 유명한 </a:t>
            </a:r>
            <a:r>
              <a:rPr lang="en-US" altLang="ko-KR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OSS </a:t>
            </a: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라이선스 중 하나이며</a:t>
            </a:r>
            <a:r>
              <a:rPr lang="en-US" altLang="ko-KR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지금도 높은 오픈소스 라이선스 점유율을 차지하고 있음</a:t>
            </a:r>
            <a:endParaRPr lang="en-US" altLang="ko-KR" sz="1600" b="1" dirty="0" smtClean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오픈 소스 생태계를 만들어 내는 데 핵심적인 역할을 수행</a:t>
            </a:r>
            <a:endParaRPr lang="en-US" altLang="ko-KR" sz="1600" b="1" dirty="0" smtClean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ko-KR" sz="16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8108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537029" y="653142"/>
            <a:ext cx="2032000" cy="0"/>
          </a:xfrm>
          <a:prstGeom prst="line">
            <a:avLst/>
          </a:prstGeom>
          <a:ln w="12700">
            <a:solidFill>
              <a:srgbClr val="3F3F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/>
        </p:nvSpPr>
        <p:spPr>
          <a:xfrm>
            <a:off x="1064601" y="705134"/>
            <a:ext cx="10278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F3F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GPL</a:t>
            </a:r>
            <a:endParaRPr lang="ko-KR" altLang="en-US" sz="3200" b="1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3F3F3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3023370" y="833236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E7E6E6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altLang="ko-KR" sz="160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E7E6E6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ko-KR" altLang="en-US" sz="160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E7E6E6">
                  <a:lumMod val="2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2786743" y="580570"/>
            <a:ext cx="0" cy="5861378"/>
          </a:xfrm>
          <a:prstGeom prst="line">
            <a:avLst/>
          </a:prstGeom>
          <a:ln>
            <a:gradFill flip="none" rotWithShape="1">
              <a:gsLst>
                <a:gs pos="60000">
                  <a:srgbClr val="3F3F3F">
                    <a:alpha val="54000"/>
                  </a:srgbClr>
                </a:gs>
                <a:gs pos="100000">
                  <a:schemeClr val="bg1">
                    <a:lumMod val="85000"/>
                    <a:alpha val="72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  <a:effectLst>
            <a:outerShdw blurRad="152400" sx="56000" sy="56000" algn="l" rotWithShape="0">
              <a:prstClr val="black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066" y="5521658"/>
            <a:ext cx="1405300" cy="69626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6114" y="689943"/>
            <a:ext cx="1916243" cy="225158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28601" y="2941529"/>
            <a:ext cx="1811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 err="1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E7E6E6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리눅스</a:t>
            </a:r>
            <a:r>
              <a:rPr lang="ko-KR" altLang="en-US" sz="1600" b="1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E7E6E6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1600" b="1" dirty="0" err="1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E7E6E6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커널</a:t>
            </a:r>
            <a:r>
              <a:rPr lang="ko-KR" altLang="en-US" sz="1600" b="1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E7E6E6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600" b="1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E7E6E6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(v2.0)</a:t>
            </a:r>
            <a:endParaRPr lang="en-US" altLang="ko-KR" sz="1600" b="1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E7E6E6">
                  <a:lumMod val="2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2242" y="1151848"/>
            <a:ext cx="3471524" cy="1458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41976" y="2945846"/>
            <a:ext cx="1092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 err="1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E7E6E6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</a:t>
            </a:r>
            <a:r>
              <a:rPr lang="en-US" altLang="ko-KR" sz="1600" b="1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E7E6E6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(v2.0)</a:t>
            </a:r>
            <a:endParaRPr lang="en-US" altLang="ko-KR" sz="1600" b="1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E7E6E6">
                  <a:lumMod val="2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4458" y="3621847"/>
            <a:ext cx="3190496" cy="163875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655206" y="5479256"/>
            <a:ext cx="17580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E7E6E6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마리아</a:t>
            </a:r>
            <a:r>
              <a:rPr lang="en-US" altLang="ko-KR" sz="1600" b="1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E7E6E6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 (v2.0)</a:t>
            </a:r>
            <a:endParaRPr lang="en-US" altLang="ko-KR" sz="1600" b="1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E7E6E6">
                  <a:lumMod val="2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5151" y="3888185"/>
            <a:ext cx="4823409" cy="110536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047827" y="5455005"/>
            <a:ext cx="17580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E7E6E6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워드프레스</a:t>
            </a:r>
            <a:r>
              <a:rPr lang="en-US" altLang="ko-KR" sz="1600" b="1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E7E6E6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(v2.0)</a:t>
            </a:r>
            <a:endParaRPr lang="en-US" altLang="ko-KR" sz="1600" b="1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E7E6E6">
                  <a:lumMod val="2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5276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537029" y="653142"/>
            <a:ext cx="2032000" cy="0"/>
          </a:xfrm>
          <a:prstGeom prst="line">
            <a:avLst/>
          </a:prstGeom>
          <a:ln w="12700">
            <a:solidFill>
              <a:srgbClr val="3F3F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/>
        </p:nvSpPr>
        <p:spPr>
          <a:xfrm>
            <a:off x="1064601" y="705134"/>
            <a:ext cx="10278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3F3F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GPL</a:t>
            </a:r>
            <a:endParaRPr lang="ko-KR" altLang="en-US" sz="32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3F3F3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3023370" y="833236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altLang="ko-KR" sz="160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ko-KR" altLang="en-US" sz="16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3208101" y="833236"/>
            <a:ext cx="31350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GPL </a:t>
            </a:r>
            <a:r>
              <a:rPr lang="ko-KR" altLang="en-US" sz="24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라이선스 표기법</a:t>
            </a:r>
            <a:endParaRPr lang="en-US" altLang="ko-KR" sz="1600" b="1" dirty="0" smtClean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2786743" y="580570"/>
            <a:ext cx="0" cy="5861378"/>
          </a:xfrm>
          <a:prstGeom prst="line">
            <a:avLst/>
          </a:prstGeom>
          <a:ln>
            <a:gradFill flip="none" rotWithShape="1">
              <a:gsLst>
                <a:gs pos="60000">
                  <a:srgbClr val="3F3F3F">
                    <a:alpha val="54000"/>
                  </a:srgbClr>
                </a:gs>
                <a:gs pos="100000">
                  <a:schemeClr val="bg1">
                    <a:lumMod val="85000"/>
                    <a:alpha val="72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  <a:effectLst>
            <a:outerShdw blurRad="152400" sx="56000" sy="56000" algn="l" rotWithShape="0">
              <a:prstClr val="black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066" y="5521658"/>
            <a:ext cx="1405300" cy="69626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004458" y="1418011"/>
            <a:ext cx="73121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GNU </a:t>
            </a: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홈페이지에 표기 양식 존재</a:t>
            </a:r>
            <a:r>
              <a:rPr lang="en-US" altLang="ko-KR" sz="16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altLang="ko-KR" sz="16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16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(http://</a:t>
            </a:r>
            <a:r>
              <a:rPr lang="en-US" altLang="ko-KR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www.gnu.org/licenses/gpl.html)</a:t>
            </a:r>
            <a:endParaRPr lang="en-US" altLang="ko-KR" sz="16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899989" y="5330471"/>
            <a:ext cx="15210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GPL 2.0 </a:t>
            </a: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예제</a:t>
            </a:r>
            <a:endParaRPr lang="en-US" altLang="ko-KR" sz="16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707" y="2493170"/>
            <a:ext cx="5701626" cy="2845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340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537029" y="653142"/>
            <a:ext cx="2032000" cy="0"/>
          </a:xfrm>
          <a:prstGeom prst="line">
            <a:avLst/>
          </a:prstGeom>
          <a:ln w="12700">
            <a:solidFill>
              <a:srgbClr val="3F3F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/>
        </p:nvSpPr>
        <p:spPr>
          <a:xfrm>
            <a:off x="1064601" y="705134"/>
            <a:ext cx="10278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3F3F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GPL</a:t>
            </a:r>
            <a:endParaRPr lang="ko-KR" altLang="en-US" sz="32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3F3F3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3023370" y="833236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altLang="ko-KR" sz="160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ko-KR" altLang="en-US" sz="16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2786743" y="580570"/>
            <a:ext cx="0" cy="5861378"/>
          </a:xfrm>
          <a:prstGeom prst="line">
            <a:avLst/>
          </a:prstGeom>
          <a:ln>
            <a:gradFill flip="none" rotWithShape="1">
              <a:gsLst>
                <a:gs pos="60000">
                  <a:srgbClr val="3F3F3F">
                    <a:alpha val="54000"/>
                  </a:srgbClr>
                </a:gs>
                <a:gs pos="100000">
                  <a:schemeClr val="bg1">
                    <a:lumMod val="85000"/>
                    <a:alpha val="72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  <a:effectLst>
            <a:outerShdw blurRad="152400" sx="56000" sy="56000" algn="l" rotWithShape="0">
              <a:prstClr val="black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066" y="5521658"/>
            <a:ext cx="1405300" cy="696262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0369" y="334671"/>
            <a:ext cx="5334000" cy="635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031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537029" y="653142"/>
            <a:ext cx="2032000" cy="0"/>
          </a:xfrm>
          <a:prstGeom prst="line">
            <a:avLst/>
          </a:prstGeom>
          <a:ln w="12700">
            <a:solidFill>
              <a:srgbClr val="3F3F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3023370" y="833236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E7E6E6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altLang="ko-KR" sz="160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E7E6E6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ko-KR" altLang="en-US" sz="160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E7E6E6">
                  <a:lumMod val="2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2786743" y="580570"/>
            <a:ext cx="0" cy="5861378"/>
          </a:xfrm>
          <a:prstGeom prst="line">
            <a:avLst/>
          </a:prstGeom>
          <a:ln>
            <a:gradFill flip="none" rotWithShape="1">
              <a:gsLst>
                <a:gs pos="60000">
                  <a:srgbClr val="3F3F3F">
                    <a:alpha val="54000"/>
                  </a:srgbClr>
                </a:gs>
                <a:gs pos="100000">
                  <a:schemeClr val="bg1">
                    <a:lumMod val="85000"/>
                    <a:alpha val="72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  <a:effectLst>
            <a:outerShdw blurRad="152400" sx="56000" sy="56000" algn="l" rotWithShape="0">
              <a:prstClr val="black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066" y="5521658"/>
            <a:ext cx="1405300" cy="696262"/>
          </a:xfrm>
          <a:prstGeom prst="rect">
            <a:avLst/>
          </a:prstGeom>
        </p:spPr>
      </p:pic>
      <p:sp>
        <p:nvSpPr>
          <p:cNvPr id="15" name="직사각형 14"/>
          <p:cNvSpPr/>
          <p:nvPr/>
        </p:nvSpPr>
        <p:spPr>
          <a:xfrm>
            <a:off x="3208101" y="833236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 err="1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E7E6E6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Copyleft</a:t>
            </a:r>
            <a:endParaRPr lang="en-US" altLang="ko-KR" sz="1600" b="1" dirty="0" smtClean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E7E6E6">
                  <a:lumMod val="2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004458" y="1418011"/>
            <a:ext cx="647302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최초의 </a:t>
            </a:r>
            <a:r>
              <a:rPr lang="en-US" altLang="ko-KR" sz="1600" b="1" dirty="0" err="1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Copyleft</a:t>
            </a:r>
            <a:r>
              <a:rPr lang="en-US" altLang="ko-KR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라이선스</a:t>
            </a:r>
            <a:endParaRPr lang="en-US" altLang="ko-KR" sz="1600" b="1" dirty="0" smtClean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b="1" dirty="0" smtClean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 err="1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Copyleft</a:t>
            </a: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의 </a:t>
            </a:r>
            <a:r>
              <a:rPr lang="en-US" altLang="ko-KR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가지 자유</a:t>
            </a:r>
            <a:endParaRPr lang="en-US" altLang="ko-KR" sz="1600" b="1" dirty="0" smtClean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AutoNum type="arabicPeriod"/>
            </a:pP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작품을 연구하고 사용하는 </a:t>
            </a:r>
            <a:r>
              <a:rPr lang="ko-KR" altLang="en-US" sz="16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자</a:t>
            </a: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유</a:t>
            </a:r>
            <a:endParaRPr lang="en-US" altLang="ko-KR" sz="1600" b="1" dirty="0" smtClean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AutoNum type="arabicPeriod"/>
            </a:pP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작품을 다른 사람과 같이 쓰고 복사하는 자유</a:t>
            </a:r>
            <a:endParaRPr lang="en-US" altLang="ko-KR" sz="1600" b="1" dirty="0" smtClean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AutoNum type="arabicPeriod"/>
            </a:pP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작품을 수정하는 자유</a:t>
            </a:r>
            <a:endParaRPr lang="en-US" altLang="ko-KR" sz="1600" b="1" dirty="0" smtClean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AutoNum type="arabicPeriod"/>
            </a:pP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수정된 작품</a:t>
            </a:r>
            <a:r>
              <a:rPr lang="en-US" altLang="ko-KR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곧 </a:t>
            </a:r>
            <a:r>
              <a:rPr lang="en-US" altLang="ko-KR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차 저작물을 배포할 자유</a:t>
            </a:r>
            <a:endParaRPr lang="en-US" altLang="ko-KR" sz="1600" b="1" dirty="0" smtClean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b="1" dirty="0" smtClean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차 저작물 배포 시 원본과 동등한 라이선스 하에 배포되어야 함</a:t>
            </a:r>
            <a:endParaRPr lang="en-US" altLang="ko-KR" sz="16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720910" y="710126"/>
            <a:ext cx="16642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3F3F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</a:t>
            </a:r>
            <a:endParaRPr lang="ko-KR" altLang="en-US" sz="32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3F3F3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4317" y="653142"/>
            <a:ext cx="2095500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204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537029" y="653142"/>
            <a:ext cx="2032000" cy="0"/>
          </a:xfrm>
          <a:prstGeom prst="line">
            <a:avLst/>
          </a:prstGeom>
          <a:ln w="12700">
            <a:solidFill>
              <a:srgbClr val="3F3F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3023370" y="833236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E7E6E6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altLang="ko-KR" sz="160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E7E6E6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ko-KR" altLang="en-US" sz="160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E7E6E6">
                  <a:lumMod val="2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2786743" y="580570"/>
            <a:ext cx="0" cy="5861378"/>
          </a:xfrm>
          <a:prstGeom prst="line">
            <a:avLst/>
          </a:prstGeom>
          <a:ln>
            <a:gradFill flip="none" rotWithShape="1">
              <a:gsLst>
                <a:gs pos="60000">
                  <a:srgbClr val="3F3F3F">
                    <a:alpha val="54000"/>
                  </a:srgbClr>
                </a:gs>
                <a:gs pos="100000">
                  <a:schemeClr val="bg1">
                    <a:lumMod val="85000"/>
                    <a:alpha val="72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  <a:effectLst>
            <a:outerShdw blurRad="152400" sx="56000" sy="56000" algn="l" rotWithShape="0">
              <a:prstClr val="black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066" y="5521658"/>
            <a:ext cx="1405300" cy="696262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3208101" y="833236"/>
            <a:ext cx="22116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E7E6E6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GPL </a:t>
            </a:r>
            <a:r>
              <a:rPr lang="ko-KR" altLang="en-US" sz="2400" b="1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E7E6E6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주요 원칙</a:t>
            </a:r>
            <a:endParaRPr lang="en-US" altLang="ko-KR" sz="1600" b="1" dirty="0" smtClean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E7E6E6">
                  <a:lumMod val="2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023370" y="1618433"/>
            <a:ext cx="818730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600" b="1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E7E6E6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컴퓨터 프로그램을 어떠한 목적으로든 사용 가능</a:t>
            </a:r>
            <a:r>
              <a:rPr lang="en-US" altLang="ko-KR" sz="1600" b="1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E7E6E6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ko-KR" altLang="en-US" sz="1600" b="1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E7E6E6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단</a:t>
            </a:r>
            <a:r>
              <a:rPr lang="en-US" altLang="ko-KR" sz="1600" b="1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E7E6E6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ko-KR" altLang="en-US" sz="1600" b="1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E7E6E6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법으로 제한하는 행위는 불가</a:t>
            </a:r>
            <a:endParaRPr lang="en-US" altLang="ko-KR" sz="1600" b="1" dirty="0" smtClean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E7E6E6">
                  <a:lumMod val="2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sz="1600" b="1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E7E6E6">
                  <a:lumMod val="2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ko-KR" altLang="en-US" sz="16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E7E6E6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컴퓨터 프로그램의 복사본은 반드시 소스 코드와 함께 판매하거나 배포해야 </a:t>
            </a:r>
            <a:r>
              <a:rPr lang="ko-KR" altLang="en-US" sz="1600" b="1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E7E6E6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함</a:t>
            </a:r>
            <a:endParaRPr lang="en-US" altLang="ko-KR" sz="1600" b="1" dirty="0" smtClean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E7E6E6">
                  <a:lumMod val="2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endParaRPr lang="en-US" altLang="ko-KR" sz="1600" b="1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E7E6E6">
                  <a:lumMod val="2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ko-KR" altLang="en-US" sz="16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E7E6E6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컴퓨터 프로그램의 소스 코드를 용도에 따라 변경 </a:t>
            </a:r>
            <a:r>
              <a:rPr lang="ko-KR" altLang="en-US" sz="1600" b="1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E7E6E6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가능</a:t>
            </a:r>
            <a:endParaRPr lang="en-US" altLang="ko-KR" sz="1600" b="1" dirty="0" smtClean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E7E6E6">
                  <a:lumMod val="2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endParaRPr lang="en-US" altLang="ko-KR" sz="1600" b="1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E7E6E6">
                  <a:lumMod val="2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ko-KR" altLang="en-US" sz="16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E7E6E6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변경된 컴퓨터 프로그램 역시 프로그램의 소스 코드를 공개 배포해야 함</a:t>
            </a:r>
            <a:endParaRPr lang="en-US" altLang="ko-KR" sz="1600" b="1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E7E6E6">
                  <a:lumMod val="2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endParaRPr lang="en-US" altLang="ko-KR" sz="1600" b="1" dirty="0" smtClean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E7E6E6">
                  <a:lumMod val="2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ko-KR" altLang="en-US" sz="16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E7E6E6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변경된 컴퓨터 프로그램 역시 </a:t>
            </a:r>
            <a:r>
              <a:rPr lang="en-US" altLang="ko-KR" sz="16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E7E6E6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GPL </a:t>
            </a:r>
            <a:r>
              <a:rPr lang="ko-KR" altLang="en-US" sz="16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E7E6E6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라이선스를 적용해야 함</a:t>
            </a:r>
            <a:endParaRPr lang="en-US" altLang="ko-KR" sz="1600" b="1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E7E6E6">
                  <a:lumMod val="2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endParaRPr lang="en-US" altLang="ko-KR" sz="1600" b="1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E7E6E6">
                  <a:lumMod val="2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720910" y="710126"/>
            <a:ext cx="16642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3F3F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</a:t>
            </a:r>
            <a:endParaRPr lang="ko-KR" altLang="en-US" sz="3200" b="1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3F3F3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9065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537029" y="653142"/>
            <a:ext cx="2032000" cy="0"/>
          </a:xfrm>
          <a:prstGeom prst="line">
            <a:avLst/>
          </a:prstGeom>
          <a:ln w="12700">
            <a:solidFill>
              <a:srgbClr val="3F3F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3023370" y="833236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altLang="ko-KR" sz="160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ko-KR" altLang="en-US" sz="16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3208101" y="833236"/>
            <a:ext cx="11592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GPLv1</a:t>
            </a:r>
            <a:endParaRPr lang="en-US" altLang="ko-KR" sz="1600" b="1" dirty="0" smtClean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2786743" y="580570"/>
            <a:ext cx="0" cy="5861378"/>
          </a:xfrm>
          <a:prstGeom prst="line">
            <a:avLst/>
          </a:prstGeom>
          <a:ln>
            <a:gradFill flip="none" rotWithShape="1">
              <a:gsLst>
                <a:gs pos="60000">
                  <a:srgbClr val="3F3F3F">
                    <a:alpha val="54000"/>
                  </a:srgbClr>
                </a:gs>
                <a:gs pos="100000">
                  <a:schemeClr val="bg1">
                    <a:lumMod val="85000"/>
                    <a:alpha val="72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  <a:effectLst>
            <a:outerShdw blurRad="152400" sx="56000" sy="56000" algn="l" rotWithShape="0">
              <a:prstClr val="black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066" y="5521658"/>
            <a:ext cx="1405300" cy="69626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979134" y="1494954"/>
            <a:ext cx="81873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1989</a:t>
            </a: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년 </a:t>
            </a:r>
            <a:r>
              <a:rPr lang="en-US" altLang="ko-KR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월 </a:t>
            </a:r>
            <a:r>
              <a:rPr lang="en-US" altLang="ko-KR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</a:t>
            </a: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일</a:t>
            </a:r>
            <a:r>
              <a:rPr lang="en-US" altLang="ko-KR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Richard Stallman</a:t>
            </a: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이 발표</a:t>
            </a:r>
            <a:endParaRPr lang="en-US" altLang="ko-KR" sz="1600" b="1" dirty="0" smtClean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소스 코드 배포</a:t>
            </a:r>
            <a:r>
              <a:rPr lang="en-US" altLang="ko-KR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전염성 등 주요 원칙 존재</a:t>
            </a:r>
            <a:endParaRPr lang="en-US" altLang="ko-KR" sz="16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3233425" y="2433671"/>
            <a:ext cx="11592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GPLv2</a:t>
            </a:r>
            <a:endParaRPr lang="en-US" altLang="ko-KR" sz="1600" b="1" dirty="0" smtClean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004458" y="2895336"/>
            <a:ext cx="81873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1991</a:t>
            </a: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년 </a:t>
            </a:r>
            <a:r>
              <a:rPr lang="en-US" altLang="ko-KR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월에 발표</a:t>
            </a:r>
            <a:endParaRPr lang="en-US" altLang="ko-KR" sz="1600" b="1" dirty="0" smtClean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특허 위반 등으로 인해 소스 코드 배포가 불가능한 경우</a:t>
            </a:r>
            <a:r>
              <a:rPr lang="en-US" altLang="ko-KR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br>
              <a:rPr lang="en-US" altLang="ko-KR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실행 프로그램 또한 배포할 수 없도록 함</a:t>
            </a:r>
            <a:endParaRPr lang="en-US" altLang="ko-KR" sz="1600" b="1" dirty="0" smtClean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233425" y="4228996"/>
            <a:ext cx="11592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GPLv3</a:t>
            </a:r>
            <a:endParaRPr lang="en-US" altLang="ko-KR" sz="1600" b="1" dirty="0" smtClean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004458" y="4690661"/>
            <a:ext cx="81873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2007</a:t>
            </a: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년 </a:t>
            </a:r>
            <a:r>
              <a:rPr lang="en-US" altLang="ko-KR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월 </a:t>
            </a:r>
            <a:r>
              <a:rPr lang="en-US" altLang="ko-KR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29</a:t>
            </a: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일에 발표</a:t>
            </a:r>
            <a:endParaRPr lang="en-US" altLang="ko-KR" sz="1600" b="1" dirty="0" smtClean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특허 대처</a:t>
            </a:r>
            <a:r>
              <a:rPr lang="en-US" altLang="ko-KR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라이선스 호환성</a:t>
            </a:r>
            <a:r>
              <a:rPr lang="en-US" altLang="ko-KR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소스 코드의 정의</a:t>
            </a:r>
            <a:r>
              <a:rPr lang="en-US" altLang="ko-KR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DRM/</a:t>
            </a:r>
            <a:r>
              <a:rPr lang="en-US" altLang="ko-KR" sz="1600" b="1" dirty="0" err="1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Tivoization</a:t>
            </a:r>
            <a:r>
              <a:rPr lang="en-US" altLang="ko-KR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방지</a:t>
            </a:r>
            <a:endParaRPr lang="en-US" altLang="ko-KR" sz="1600" b="1" dirty="0" smtClean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754573" y="710126"/>
            <a:ext cx="15969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3F3F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History</a:t>
            </a:r>
            <a:endParaRPr lang="ko-KR" altLang="en-US" sz="32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3F3F3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3383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537029" y="653142"/>
            <a:ext cx="2032000" cy="0"/>
          </a:xfrm>
          <a:prstGeom prst="line">
            <a:avLst/>
          </a:prstGeom>
          <a:ln w="12700">
            <a:solidFill>
              <a:srgbClr val="3F3F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3023370" y="833236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altLang="ko-KR" sz="160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ko-KR" altLang="en-US" sz="16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2786743" y="580570"/>
            <a:ext cx="0" cy="5861378"/>
          </a:xfrm>
          <a:prstGeom prst="line">
            <a:avLst/>
          </a:prstGeom>
          <a:ln>
            <a:gradFill flip="none" rotWithShape="1">
              <a:gsLst>
                <a:gs pos="60000">
                  <a:srgbClr val="3F3F3F">
                    <a:alpha val="54000"/>
                  </a:srgbClr>
                </a:gs>
                <a:gs pos="100000">
                  <a:schemeClr val="bg1">
                    <a:lumMod val="85000"/>
                    <a:alpha val="72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  <a:effectLst>
            <a:outerShdw blurRad="152400" sx="56000" sy="56000" algn="l" rotWithShape="0">
              <a:prstClr val="black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066" y="5521658"/>
            <a:ext cx="1405300" cy="696262"/>
          </a:xfrm>
          <a:prstGeom prst="rect">
            <a:avLst/>
          </a:prstGeom>
        </p:spPr>
      </p:pic>
      <p:sp>
        <p:nvSpPr>
          <p:cNvPr id="15" name="직사각형 14"/>
          <p:cNvSpPr/>
          <p:nvPr/>
        </p:nvSpPr>
        <p:spPr>
          <a:xfrm>
            <a:off x="3208101" y="833236"/>
            <a:ext cx="57334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LGPL : Lesser General Public License</a:t>
            </a:r>
            <a:endParaRPr lang="en-US" altLang="ko-KR" sz="1600" b="1" dirty="0" smtClean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0455" y="833236"/>
            <a:ext cx="3043910" cy="132343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979133" y="1693605"/>
            <a:ext cx="573335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GPL</a:t>
            </a: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의 강력한 </a:t>
            </a:r>
            <a:r>
              <a:rPr lang="en-US" altLang="ko-KR" sz="1600" b="1" dirty="0" err="1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Copyleft</a:t>
            </a:r>
            <a:r>
              <a:rPr lang="en-US" altLang="ko-KR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조항을 보완하기 위해 만들어진 라이선스</a:t>
            </a:r>
            <a:endParaRPr lang="en-US" altLang="ko-KR" sz="1600" b="1" dirty="0" smtClean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altLang="ko-KR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GNU, BSD, MIT</a:t>
            </a: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의</a:t>
            </a:r>
            <a:r>
              <a:rPr lang="en-US" altLang="ko-KR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절충</a:t>
            </a:r>
            <a:endParaRPr lang="en-US" altLang="ko-KR" sz="1600" b="1" dirty="0" smtClean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1991</a:t>
            </a: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년 </a:t>
            </a:r>
            <a:r>
              <a:rPr lang="en-US" altLang="ko-KR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GNU Library General Public License</a:t>
            </a: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라는 이름으로 공개됨</a:t>
            </a:r>
            <a:endParaRPr lang="en-US" altLang="ko-KR" sz="1600" b="1" dirty="0" smtClean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altLang="ko-KR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ko-KR" altLang="en-US" sz="1600" b="1" dirty="0" err="1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리처드</a:t>
            </a: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1600" b="1" dirty="0" err="1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스톨만이</a:t>
            </a: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1600" b="1" dirty="0" err="1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이벤</a:t>
            </a: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1600" b="1" dirty="0" err="1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모글렌의</a:t>
            </a: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법률 자문을 받아 작성</a:t>
            </a:r>
            <a:endParaRPr lang="en-US" altLang="ko-KR" sz="16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b="1" dirty="0" smtClean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1999</a:t>
            </a: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년 </a:t>
            </a:r>
            <a:r>
              <a:rPr lang="en-US" altLang="ko-KR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GNU Lesser General Public License</a:t>
            </a: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로 바뀌고</a:t>
            </a:r>
            <a:r>
              <a:rPr lang="en-US" altLang="ko-KR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몇몇 사항이 수정된 </a:t>
            </a:r>
            <a:r>
              <a:rPr lang="en-US" altLang="ko-KR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v2.1 </a:t>
            </a: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발표</a:t>
            </a:r>
            <a:endParaRPr lang="en-US" altLang="ko-KR" sz="16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b="1" dirty="0" smtClean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2007</a:t>
            </a: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년 </a:t>
            </a:r>
            <a:r>
              <a:rPr lang="en-US" altLang="ko-KR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GPL v3</a:t>
            </a: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와 함께 </a:t>
            </a:r>
            <a:r>
              <a:rPr lang="en-US" altLang="ko-KR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LGPL v3 </a:t>
            </a: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발표</a:t>
            </a:r>
            <a:endParaRPr lang="en-US" altLang="ko-KR" sz="16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914072" y="710126"/>
            <a:ext cx="12779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3F3F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LGPL</a:t>
            </a:r>
            <a:endParaRPr lang="ko-KR" altLang="en-US" sz="32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3F3F3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5478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537029" y="653142"/>
            <a:ext cx="2032000" cy="0"/>
          </a:xfrm>
          <a:prstGeom prst="line">
            <a:avLst/>
          </a:prstGeom>
          <a:ln w="12700">
            <a:solidFill>
              <a:srgbClr val="3F3F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3023370" y="833236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altLang="ko-KR" sz="160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ko-KR" altLang="en-US" sz="16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2786743" y="580570"/>
            <a:ext cx="0" cy="5861378"/>
          </a:xfrm>
          <a:prstGeom prst="line">
            <a:avLst/>
          </a:prstGeom>
          <a:ln>
            <a:gradFill flip="none" rotWithShape="1">
              <a:gsLst>
                <a:gs pos="60000">
                  <a:srgbClr val="3F3F3F">
                    <a:alpha val="54000"/>
                  </a:srgbClr>
                </a:gs>
                <a:gs pos="100000">
                  <a:schemeClr val="bg1">
                    <a:lumMod val="85000"/>
                    <a:alpha val="72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  <a:effectLst>
            <a:outerShdw blurRad="152400" sx="56000" sy="56000" algn="l" rotWithShape="0">
              <a:prstClr val="black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066" y="5521658"/>
            <a:ext cx="1405300" cy="696262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0455" y="833236"/>
            <a:ext cx="3043910" cy="1323439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914072" y="710126"/>
            <a:ext cx="12779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3F3F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LGPL</a:t>
            </a:r>
            <a:endParaRPr lang="ko-KR" altLang="en-US" sz="32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3F3F3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475" y="2642450"/>
            <a:ext cx="2438400" cy="243840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3055" y="2566987"/>
            <a:ext cx="4762500" cy="239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13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537029" y="653142"/>
            <a:ext cx="2032000" cy="0"/>
          </a:xfrm>
          <a:prstGeom prst="line">
            <a:avLst/>
          </a:prstGeom>
          <a:ln w="12700">
            <a:solidFill>
              <a:srgbClr val="3F3F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3023370" y="833236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altLang="ko-KR" sz="160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ko-KR" altLang="en-US" sz="16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2786743" y="580570"/>
            <a:ext cx="0" cy="5861378"/>
          </a:xfrm>
          <a:prstGeom prst="line">
            <a:avLst/>
          </a:prstGeom>
          <a:ln>
            <a:gradFill flip="none" rotWithShape="1">
              <a:gsLst>
                <a:gs pos="60000">
                  <a:srgbClr val="3F3F3F">
                    <a:alpha val="54000"/>
                  </a:srgbClr>
                </a:gs>
                <a:gs pos="100000">
                  <a:schemeClr val="bg1">
                    <a:lumMod val="85000"/>
                    <a:alpha val="72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  <a:effectLst>
            <a:outerShdw blurRad="152400" sx="56000" sy="56000" algn="l" rotWithShape="0">
              <a:prstClr val="black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066" y="5521658"/>
            <a:ext cx="1405300" cy="696262"/>
          </a:xfrm>
          <a:prstGeom prst="rect">
            <a:avLst/>
          </a:prstGeom>
        </p:spPr>
      </p:pic>
      <p:sp>
        <p:nvSpPr>
          <p:cNvPr id="15" name="직사각형 14"/>
          <p:cNvSpPr/>
          <p:nvPr/>
        </p:nvSpPr>
        <p:spPr>
          <a:xfrm>
            <a:off x="3208101" y="833236"/>
            <a:ext cx="37240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Difference from the GPL</a:t>
            </a:r>
            <a:endParaRPr lang="en-US" altLang="ko-KR" sz="1600" b="1" dirty="0" smtClean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0455" y="833236"/>
            <a:ext cx="3043910" cy="132343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979134" y="1936018"/>
            <a:ext cx="573335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LGPL</a:t>
            </a: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은 단순한 라이브러리</a:t>
            </a:r>
            <a:r>
              <a:rPr lang="en-US" altLang="ko-KR" sz="16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·</a:t>
            </a: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모듈 링크 허용</a:t>
            </a:r>
            <a:endParaRPr lang="en-US" altLang="ko-KR" sz="1600" b="1" dirty="0" smtClean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b="1" dirty="0" smtClean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b="1" dirty="0" smtClean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링크한 프로그램이 </a:t>
            </a:r>
            <a:r>
              <a:rPr lang="en-US" altLang="ko-KR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차적 저작물</a:t>
            </a:r>
            <a:r>
              <a:rPr lang="en-US" altLang="ko-KR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(derivative work)</a:t>
            </a: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이 </a:t>
            </a:r>
            <a:r>
              <a:rPr lang="en-US" altLang="ko-KR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altLang="ko-KR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아닌 경우</a:t>
            </a:r>
            <a:r>
              <a:rPr lang="en-US" altLang="ko-KR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어떤 조건으로도 배포 가능함</a:t>
            </a:r>
            <a:endParaRPr lang="en-US" altLang="ko-KR" sz="1600" b="1" dirty="0" smtClean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914072" y="710126"/>
            <a:ext cx="12779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3F3F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LGPL</a:t>
            </a:r>
            <a:endParaRPr lang="ko-KR" altLang="en-US" sz="32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3F3F3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7266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537029" y="653142"/>
            <a:ext cx="2032000" cy="0"/>
          </a:xfrm>
          <a:prstGeom prst="line">
            <a:avLst/>
          </a:prstGeom>
          <a:ln w="12700">
            <a:solidFill>
              <a:srgbClr val="3F3F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3023370" y="833236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E7E6E6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altLang="ko-KR" sz="160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E7E6E6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ko-KR" altLang="en-US" sz="160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E7E6E6">
                  <a:lumMod val="2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2786743" y="580570"/>
            <a:ext cx="0" cy="5861378"/>
          </a:xfrm>
          <a:prstGeom prst="line">
            <a:avLst/>
          </a:prstGeom>
          <a:ln>
            <a:gradFill flip="none" rotWithShape="1">
              <a:gsLst>
                <a:gs pos="60000">
                  <a:srgbClr val="3F3F3F">
                    <a:alpha val="54000"/>
                  </a:srgbClr>
                </a:gs>
                <a:gs pos="100000">
                  <a:schemeClr val="bg1">
                    <a:lumMod val="85000"/>
                    <a:alpha val="72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  <a:effectLst>
            <a:outerShdw blurRad="152400" sx="56000" sy="56000" algn="l" rotWithShape="0">
              <a:prstClr val="black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066" y="5521658"/>
            <a:ext cx="1405300" cy="696262"/>
          </a:xfrm>
          <a:prstGeom prst="rect">
            <a:avLst/>
          </a:prstGeom>
        </p:spPr>
      </p:pic>
      <p:sp>
        <p:nvSpPr>
          <p:cNvPr id="16" name="직사각형 15"/>
          <p:cNvSpPr/>
          <p:nvPr/>
        </p:nvSpPr>
        <p:spPr>
          <a:xfrm>
            <a:off x="639958" y="71012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3F3F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</a:t>
            </a:r>
            <a:endParaRPr lang="ko-KR" altLang="en-US" sz="32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3F3F3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023370" y="2156674"/>
            <a:ext cx="721911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GPL </a:t>
            </a: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라이선스가 포함된 소스를 아주 조금이라도 사용하거나 단지 링크만 하더라도 새로운 소프트웨어는 소스 전체 공개와 더불어 </a:t>
            </a:r>
            <a:r>
              <a:rPr lang="en-US" altLang="ko-KR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GPL </a:t>
            </a: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라이선스를 따라야만 함</a:t>
            </a:r>
            <a:endParaRPr lang="en-US" altLang="ko-KR" sz="1600" b="1" dirty="0" smtClean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b="1" dirty="0" smtClean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마이크로소프트는 이를 건드리는 모든 지적 재산권에 퍼지는 바이러스나 다름없다고 비판</a:t>
            </a:r>
            <a:endParaRPr lang="en-US" altLang="ko-KR" sz="1600" b="1" dirty="0" smtClean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b="1" dirty="0" smtClean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소프트웨어로부터 이익을 창출하고 상업화하는데 매우 큰 문제가 됨</a:t>
            </a:r>
            <a:endParaRPr lang="en-US" altLang="ko-KR" sz="1600" b="1" dirty="0" smtClean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3208101" y="833236"/>
            <a:ext cx="22012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너무 강한 제약</a:t>
            </a:r>
            <a:endParaRPr lang="en-US" altLang="ko-KR" sz="1600" b="1" dirty="0" smtClean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3539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537029" y="653142"/>
            <a:ext cx="2032000" cy="0"/>
          </a:xfrm>
          <a:prstGeom prst="line">
            <a:avLst/>
          </a:prstGeom>
          <a:ln w="12700">
            <a:solidFill>
              <a:srgbClr val="3F3F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3023370" y="833236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E7E6E6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altLang="ko-KR" sz="160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E7E6E6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ko-KR" altLang="en-US" sz="160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E7E6E6">
                  <a:lumMod val="2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2786743" y="580570"/>
            <a:ext cx="0" cy="5861378"/>
          </a:xfrm>
          <a:prstGeom prst="line">
            <a:avLst/>
          </a:prstGeom>
          <a:ln>
            <a:gradFill flip="none" rotWithShape="1">
              <a:gsLst>
                <a:gs pos="60000">
                  <a:srgbClr val="3F3F3F">
                    <a:alpha val="54000"/>
                  </a:srgbClr>
                </a:gs>
                <a:gs pos="100000">
                  <a:schemeClr val="bg1">
                    <a:lumMod val="85000"/>
                    <a:alpha val="72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  <a:effectLst>
            <a:outerShdw blurRad="152400" sx="56000" sy="56000" algn="l" rotWithShape="0">
              <a:prstClr val="black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066" y="5521658"/>
            <a:ext cx="1405300" cy="696262"/>
          </a:xfrm>
          <a:prstGeom prst="rect">
            <a:avLst/>
          </a:prstGeom>
        </p:spPr>
      </p:pic>
      <p:sp>
        <p:nvSpPr>
          <p:cNvPr id="16" name="직사각형 15"/>
          <p:cNvSpPr/>
          <p:nvPr/>
        </p:nvSpPr>
        <p:spPr>
          <a:xfrm>
            <a:off x="639958" y="71012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3F3F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</a:t>
            </a:r>
            <a:endParaRPr lang="ko-KR" altLang="en-US" sz="32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3F3F3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021346" y="2056186"/>
            <a:ext cx="721911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GPL </a:t>
            </a: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라이선스는 자유 소프트웨어를 퍼트리기 좋음</a:t>
            </a:r>
            <a:endParaRPr lang="en-US" altLang="ko-KR" sz="1600" b="1" dirty="0" smtClean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b="1" dirty="0" smtClean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서로 프로그램</a:t>
            </a:r>
            <a:r>
              <a:rPr lang="en-US" altLang="ko-KR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소스코드를 공유</a:t>
            </a:r>
            <a:endParaRPr lang="en-US" altLang="ko-KR" sz="1600" b="1" dirty="0" smtClean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b="1" dirty="0" smtClean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공동체의 빠른 발전이 가능</a:t>
            </a:r>
            <a:endParaRPr lang="en-US" altLang="ko-KR" sz="1600" b="1" dirty="0" smtClean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3208101" y="833236"/>
            <a:ext cx="8178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BUT</a:t>
            </a:r>
          </a:p>
        </p:txBody>
      </p:sp>
    </p:spTree>
    <p:extLst>
      <p:ext uri="{BB962C8B-B14F-4D97-AF65-F5344CB8AC3E}">
        <p14:creationId xmlns:p14="http://schemas.microsoft.com/office/powerpoint/2010/main" val="290863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537029" y="653142"/>
            <a:ext cx="2032000" cy="0"/>
          </a:xfrm>
          <a:prstGeom prst="line">
            <a:avLst/>
          </a:prstGeom>
          <a:ln w="12700">
            <a:solidFill>
              <a:srgbClr val="3F3F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3023370" y="833236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E7E6E6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altLang="ko-KR" sz="160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E7E6E6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ko-KR" altLang="en-US" sz="160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E7E6E6">
                  <a:lumMod val="2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2786743" y="580570"/>
            <a:ext cx="0" cy="5861378"/>
          </a:xfrm>
          <a:prstGeom prst="line">
            <a:avLst/>
          </a:prstGeom>
          <a:ln>
            <a:gradFill flip="none" rotWithShape="1">
              <a:gsLst>
                <a:gs pos="60000">
                  <a:srgbClr val="3F3F3F">
                    <a:alpha val="54000"/>
                  </a:srgbClr>
                </a:gs>
                <a:gs pos="100000">
                  <a:schemeClr val="bg1">
                    <a:lumMod val="85000"/>
                    <a:alpha val="72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  <a:effectLst>
            <a:outerShdw blurRad="152400" sx="56000" sy="56000" algn="l" rotWithShape="0">
              <a:prstClr val="black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066" y="5521658"/>
            <a:ext cx="1405300" cy="696262"/>
          </a:xfrm>
          <a:prstGeom prst="rect">
            <a:avLst/>
          </a:prstGeom>
        </p:spPr>
      </p:pic>
      <p:sp>
        <p:nvSpPr>
          <p:cNvPr id="16" name="직사각형 15"/>
          <p:cNvSpPr/>
          <p:nvPr/>
        </p:nvSpPr>
        <p:spPr>
          <a:xfrm>
            <a:off x="639958" y="71012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3F3F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</a:t>
            </a:r>
            <a:endParaRPr lang="ko-KR" altLang="en-US" sz="32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3F3F3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023370" y="1418011"/>
            <a:ext cx="721911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GPL </a:t>
            </a: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라이선스는 </a:t>
            </a:r>
            <a:r>
              <a:rPr lang="en-US" altLang="ko-KR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Mac App store</a:t>
            </a: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와 같은 많은 디지털 배급 시스템에서</a:t>
            </a:r>
            <a:r>
              <a:rPr lang="en-US" altLang="ko-KR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altLang="ko-KR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사용될 수 없음</a:t>
            </a:r>
            <a:r>
              <a:rPr lang="en-US" altLang="ko-KR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altLang="ko-KR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통합된 </a:t>
            </a:r>
            <a:r>
              <a:rPr lang="en-US" altLang="ko-KR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DRM </a:t>
            </a: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시스템이 소프트웨어를 복제하는 것을 방지하기 때문</a:t>
            </a:r>
            <a:endParaRPr lang="en-US" altLang="ko-KR" sz="1600" b="1" dirty="0" smtClean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b="1" dirty="0" smtClean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심지어</a:t>
            </a:r>
            <a:r>
              <a:rPr lang="en-US" altLang="ko-KR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어플리케이션이 무료라고 해도 불가능</a:t>
            </a:r>
            <a:endParaRPr lang="en-US" altLang="ko-KR" sz="16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3208101" y="833236"/>
            <a:ext cx="29017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err="1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앱스토어</a:t>
            </a:r>
            <a:r>
              <a:rPr lang="ko-KR" altLang="en-US" sz="24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사용 불가</a:t>
            </a:r>
            <a:endParaRPr lang="en-US" altLang="ko-KR" sz="1600" b="1" dirty="0" smtClean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8998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537029" y="653142"/>
            <a:ext cx="2032000" cy="0"/>
          </a:xfrm>
          <a:prstGeom prst="line">
            <a:avLst/>
          </a:prstGeom>
          <a:ln w="12700">
            <a:solidFill>
              <a:srgbClr val="3F3F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3023370" y="833236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E7E6E6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altLang="ko-KR" sz="160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E7E6E6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ko-KR" altLang="en-US" sz="160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E7E6E6">
                  <a:lumMod val="2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2786743" y="580570"/>
            <a:ext cx="0" cy="5861378"/>
          </a:xfrm>
          <a:prstGeom prst="line">
            <a:avLst/>
          </a:prstGeom>
          <a:ln>
            <a:gradFill flip="none" rotWithShape="1">
              <a:gsLst>
                <a:gs pos="60000">
                  <a:srgbClr val="3F3F3F">
                    <a:alpha val="54000"/>
                  </a:srgbClr>
                </a:gs>
                <a:gs pos="100000">
                  <a:schemeClr val="bg1">
                    <a:lumMod val="85000"/>
                    <a:alpha val="72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  <a:effectLst>
            <a:outerShdw blurRad="152400" sx="56000" sy="56000" algn="l" rotWithShape="0">
              <a:prstClr val="black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066" y="5521658"/>
            <a:ext cx="1405300" cy="696262"/>
          </a:xfrm>
          <a:prstGeom prst="rect">
            <a:avLst/>
          </a:prstGeom>
        </p:spPr>
      </p:pic>
      <p:sp>
        <p:nvSpPr>
          <p:cNvPr id="16" name="직사각형 15"/>
          <p:cNvSpPr/>
          <p:nvPr/>
        </p:nvSpPr>
        <p:spPr>
          <a:xfrm>
            <a:off x="639958" y="71012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3F3F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</a:t>
            </a:r>
            <a:endParaRPr lang="ko-KR" altLang="en-US" sz="32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3F3F3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023370" y="1418011"/>
            <a:ext cx="721911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 err="1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VideoLAN</a:t>
            </a: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에</a:t>
            </a:r>
            <a:r>
              <a:rPr lang="ko-KR" altLang="en-US" sz="16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서</a:t>
            </a: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개발한 </a:t>
            </a:r>
            <a:r>
              <a:rPr lang="ko-KR" altLang="en-US" sz="1600" b="1" dirty="0" err="1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오픈소스</a:t>
            </a: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소프트웨어</a:t>
            </a:r>
            <a:endParaRPr lang="en-US" altLang="ko-KR" sz="1600" b="1" dirty="0" smtClean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b="1" dirty="0" smtClean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2010</a:t>
            </a: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년 </a:t>
            </a:r>
            <a:r>
              <a:rPr lang="en-US" altLang="ko-KR" sz="1600" b="1" dirty="0" err="1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Applidium</a:t>
            </a: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이라는 회사가 </a:t>
            </a:r>
            <a:r>
              <a:rPr lang="en-US" altLang="ko-KR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iOS</a:t>
            </a: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용으로 </a:t>
            </a:r>
            <a:r>
              <a:rPr lang="ko-KR" altLang="en-US" sz="1600" b="1" dirty="0" err="1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포팅</a:t>
            </a:r>
            <a:endParaRPr lang="en-US" altLang="ko-KR" sz="1600" b="1" dirty="0" smtClean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en-US" altLang="ko-KR" sz="1600" b="1" dirty="0" err="1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Fairplay</a:t>
            </a:r>
            <a:r>
              <a:rPr lang="en-US" altLang="ko-KR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DRM</a:t>
            </a: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을 포함함으로써 </a:t>
            </a:r>
            <a:r>
              <a:rPr lang="en-US" altLang="ko-KR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GPL </a:t>
            </a: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라이선스 위반</a:t>
            </a:r>
            <a:endParaRPr lang="en-US" altLang="ko-KR" sz="1600" b="1" dirty="0" smtClean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en-US" altLang="ko-KR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2011</a:t>
            </a: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년 애플 </a:t>
            </a:r>
            <a:r>
              <a:rPr lang="ko-KR" altLang="en-US" sz="1600" b="1" dirty="0" err="1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앱스토어에서</a:t>
            </a: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판매중지</a:t>
            </a:r>
            <a:endParaRPr lang="en-US" altLang="ko-KR" sz="1600" b="1" dirty="0" smtClean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endParaRPr lang="en-US" altLang="ko-KR" sz="1600" b="1" dirty="0" smtClean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 err="1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VideoLAN</a:t>
            </a:r>
            <a:r>
              <a:rPr lang="ko-KR" altLang="en-US" sz="16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에서 </a:t>
            </a:r>
            <a:r>
              <a:rPr lang="en-US" altLang="ko-KR" sz="16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GPL2.0 / MPL2.0</a:t>
            </a:r>
            <a:r>
              <a:rPr lang="ko-KR" altLang="en-US" sz="16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둘 중 하나 만족하도록 조건을 검</a:t>
            </a:r>
            <a:endParaRPr lang="en-US" altLang="ko-KR" sz="16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en-US" altLang="ko-KR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2013</a:t>
            </a:r>
            <a:r>
              <a:rPr lang="ko-KR" altLang="en-US" sz="16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년 애플</a:t>
            </a:r>
            <a:r>
              <a:rPr lang="en-US" altLang="ko-KR" sz="16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1600" b="1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앱스토어에서</a:t>
            </a:r>
            <a:r>
              <a:rPr lang="ko-KR" altLang="en-US" sz="16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판매재개</a:t>
            </a:r>
            <a:endParaRPr lang="en-US" altLang="ko-KR" sz="16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b="1" dirty="0" smtClean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BOSSIE AWARD </a:t>
            </a:r>
            <a:r>
              <a:rPr lang="ko-KR" altLang="en-US" sz="16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수상</a:t>
            </a:r>
            <a:endParaRPr lang="en-US" altLang="ko-KR" sz="16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3208101" y="833236"/>
            <a:ext cx="42851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About : VLC </a:t>
            </a:r>
            <a:r>
              <a:rPr lang="ko-KR" altLang="en-US" sz="24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미디어 플레이어</a:t>
            </a:r>
            <a:endParaRPr lang="en-US" altLang="ko-KR" sz="2400" b="1" dirty="0" smtClean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2166" y="833236"/>
            <a:ext cx="2714846" cy="919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074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537029" y="653142"/>
            <a:ext cx="2032000" cy="0"/>
          </a:xfrm>
          <a:prstGeom prst="line">
            <a:avLst/>
          </a:prstGeom>
          <a:ln w="12700">
            <a:solidFill>
              <a:srgbClr val="3F3F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3023370" y="833236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E7E6E6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altLang="ko-KR" sz="160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E7E6E6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ko-KR" altLang="en-US" sz="160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E7E6E6">
                  <a:lumMod val="2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2786743" y="580570"/>
            <a:ext cx="0" cy="5861378"/>
          </a:xfrm>
          <a:prstGeom prst="line">
            <a:avLst/>
          </a:prstGeom>
          <a:ln>
            <a:gradFill flip="none" rotWithShape="1">
              <a:gsLst>
                <a:gs pos="60000">
                  <a:srgbClr val="3F3F3F">
                    <a:alpha val="54000"/>
                  </a:srgbClr>
                </a:gs>
                <a:gs pos="100000">
                  <a:schemeClr val="bg1">
                    <a:lumMod val="85000"/>
                    <a:alpha val="72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  <a:effectLst>
            <a:outerShdw blurRad="152400" sx="56000" sy="56000" algn="l" rotWithShape="0">
              <a:prstClr val="black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066" y="5521658"/>
            <a:ext cx="1405300" cy="696262"/>
          </a:xfrm>
          <a:prstGeom prst="rect">
            <a:avLst/>
          </a:prstGeom>
        </p:spPr>
      </p:pic>
      <p:sp>
        <p:nvSpPr>
          <p:cNvPr id="16" name="직사각형 15"/>
          <p:cNvSpPr/>
          <p:nvPr/>
        </p:nvSpPr>
        <p:spPr>
          <a:xfrm>
            <a:off x="639958" y="71012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3F3F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</a:t>
            </a:r>
            <a:endParaRPr lang="ko-KR" altLang="en-US" sz="32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3F3F3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8101" y="344112"/>
            <a:ext cx="7126842" cy="6334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836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4046982" y="2087027"/>
            <a:ext cx="4116833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800" b="1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3F3F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Q&amp;A</a:t>
            </a:r>
            <a:endParaRPr lang="ko-KR" altLang="en-US" sz="138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3F3F3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8287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Horizon</Template>
  <TotalTime>2311</TotalTime>
  <Words>449</Words>
  <Application>Microsoft Office PowerPoint</Application>
  <PresentationFormat>와이드스크린</PresentationFormat>
  <Paragraphs>131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2" baseType="lpstr">
      <vt:lpstr>맑은 고딕</vt:lpstr>
      <vt:lpstr>Arial Unicode MS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NARU YANG</dc:creator>
  <cp:lastModifiedBy>Jhoo</cp:lastModifiedBy>
  <cp:revision>70</cp:revision>
  <dcterms:created xsi:type="dcterms:W3CDTF">2013-12-18T12:51:48Z</dcterms:created>
  <dcterms:modified xsi:type="dcterms:W3CDTF">2016-10-12T14:11:12Z</dcterms:modified>
</cp:coreProperties>
</file>